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67" r:id="rId12"/>
    <p:sldId id="259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515"/>
    <a:srgbClr val="1C1F24"/>
    <a:srgbClr val="000000"/>
    <a:srgbClr val="E8E8E8"/>
    <a:srgbClr val="0B0C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96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8B30E0-EF23-4FB5-98C8-0FB016DC3D03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A8B471-877E-4595-81B0-E2DCF14731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459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A8B471-877E-4595-81B0-E2DCF147316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59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86282-F9D8-F3D0-F443-6D9269964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4C605-408D-8F9B-6A23-21896AFBE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D38DE5-0BF6-F2B8-B6C6-05E7DCE81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3DE60-D7B8-597E-40A0-E1D51A4FF4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A8B471-877E-4595-81B0-E2DCF147316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07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423EB-1F04-4A4C-D91E-40AEF82F2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60D35F-6452-B0AB-53C1-0496D5017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E569C-63D2-8291-51CB-C728C7417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0E02A-94F1-ECCF-30E4-2361E6E775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A8B471-877E-4595-81B0-E2DCF147316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094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05741-AD84-8EB5-7ABD-1E25C8404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7E6A49-71CB-3755-03E5-97A33681F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BAF5D7-F3BE-FCC7-0FAB-DBB815473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ADF1D-4320-76D1-9EB3-CD0F163C9B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A8B471-877E-4595-81B0-E2DCF147316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778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AF768-290C-3675-7D79-58C054A2F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C297F-B73F-970F-639F-599A945BD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229B19-0460-A27C-A364-A9F0BD414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3A8F9-1227-28C2-DC57-6310CE0477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A8B471-877E-4595-81B0-E2DCF147316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139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633E6-DC80-96CB-ACE4-26B677922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4F46B7-A67D-0EB7-1D4C-5623F56E0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FACE60-ACFC-A3FE-6041-61E5F453E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2850E-986A-A76A-8E80-1B8EABE5A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A8B471-877E-4595-81B0-E2DCF147316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0095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A8B471-877E-4595-81B0-E2DCF147316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02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4C20C-9BCF-99CC-ABC9-8A9AAB254E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FF3E63-9731-F9C1-6F4A-251B3C0FD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067FC-33AE-CFA4-DB5E-19FF2C764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EE3C-F08D-49C3-A6A6-EE66100DF25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C71D9-A738-C65B-C12F-F5B9B860A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186A1-0419-AFAC-4DA7-A1B8D8216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643C6-BCEE-4654-97E2-753327411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634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4FD78-1397-854F-4A81-904EF411F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8CD6B-B469-E89D-86FA-2B955F876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87ED5-6A50-5852-F835-FAD7D8F48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EE3C-F08D-49C3-A6A6-EE66100DF25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89902-3E64-4665-A23F-882DFF0C5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457BF-E054-6F91-C501-9D7D3C861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643C6-BCEE-4654-97E2-753327411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550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20030-2750-C4BE-2E49-92D1032EA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D627B-A6DF-A2EE-F2B5-7986F653C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BACD2-4294-497B-DC2A-D12771897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EE3C-F08D-49C3-A6A6-EE66100DF25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14BE4-320C-F419-50DC-7031A6AA8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98A67-0CCE-19E9-8FEF-A2D0A059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643C6-BCEE-4654-97E2-753327411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29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43321-4642-C6F6-FA4C-513223126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4848B-C101-A5B4-AD37-0995A0EDF5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F24610-0ED1-D8A4-5908-279E3EA8E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489D40-CBBD-1A03-9E15-A11BDAE32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EE3C-F08D-49C3-A6A6-EE66100DF25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9012B-EEE1-CE8C-CD9F-86A29F8E6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1BC45-6284-5B59-742C-65DE0E45D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643C6-BCEE-4654-97E2-753327411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54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00FF2-DFCB-8ED4-8978-D7562ECD4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0B5EB-B2AF-931D-DE1B-3F1CF9687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88A30A-8964-C5CA-2430-C2B139BFD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C23319-D454-8B23-BE16-41F50F0E10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C26926-5006-A627-7DE7-3CB212B2DB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E8BBCC-FB5B-2EF3-CD6D-1836A6813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EE3C-F08D-49C3-A6A6-EE66100DF25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271FCA-C52A-F52A-9902-73F8D8A1D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AEAE9A-11E2-182F-3894-B2DD924EE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643C6-BCEE-4654-97E2-753327411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74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601-A7AA-DA1F-B5B9-BEBF0D9F9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3F3ED1-7474-7703-3487-76365A20E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EE3C-F08D-49C3-A6A6-EE66100DF25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E24125-01AC-57B0-B2FA-BE5E9E691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AA406F-EB31-D533-730C-A960F0F08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643C6-BCEE-4654-97E2-753327411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144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7D11BC-7EC4-AE7E-3E09-18833E9CF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EE3C-F08D-49C3-A6A6-EE66100DF25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FDEE47-01A8-4CBB-C36A-9B85A3D3A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EDBC0-DDB6-7332-DA66-832BD72B0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643C6-BCEE-4654-97E2-753327411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4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9C3B7-58F4-927A-5BE2-A6D8957E5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3AE5F-16B3-6C74-9396-1F109A7C4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B3215-0E8D-7EEA-4F03-8BFB93BEB5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830B0-3882-A0AA-7431-40C04B7FA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EE3C-F08D-49C3-A6A6-EE66100DF25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9367A5-5B30-34F9-9F65-A4472E603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9EC799-7B2E-9923-7739-AE7E00BD5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643C6-BCEE-4654-97E2-753327411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28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A3D58-C35B-89C7-8333-2187C986A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7E89EE-B25C-3743-4CC0-24AAE17CF6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355CFD-3E54-7426-571E-9FCF460A6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F7A7B-0042-ADFA-2658-5BE023CF8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EE3C-F08D-49C3-A6A6-EE66100DF25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758F5-B9CC-6877-C635-0DE55BAE1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785BB-DFCD-840D-EB5C-FAA8AA9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643C6-BCEE-4654-97E2-753327411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396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7BC74-D989-FA2B-7906-038C0ECC6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1983D4-9C94-3B7E-7002-2ED6C5CE81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C6178-CC96-297D-F5DB-01FC4E934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EE3C-F08D-49C3-A6A6-EE66100DF25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294B6-4A55-D57D-90AF-8007E394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1B2C3-E2CA-BB02-2FDC-2F9E24EE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643C6-BCEE-4654-97E2-753327411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350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72B74A-9567-5D21-BE58-563994AA40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946ED6-C704-B57C-3864-480895D035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9626C-8D04-B7AA-84C3-D64A1CBB5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BEE3C-F08D-49C3-A6A6-EE66100DF25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55093-8EE6-EB00-33A2-D8F2F452D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47DD7-81AF-2E7E-98EC-938AE8E3C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643C6-BCEE-4654-97E2-753327411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788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CACA37-A8BE-5283-117C-F888A60BB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556C6-AB16-3BC8-2B92-A5E79919D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85AAD-104F-A8EB-FCE6-8776552A99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BEE3C-F08D-49C3-A6A6-EE66100DF25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6178C-8700-E79B-9F74-0824B4F9F7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E18E5-B357-D168-68B7-1219500A9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643C6-BCEE-4654-97E2-7533274112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57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3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Relationship Id="rId6" Type="http://schemas.openxmlformats.org/officeDocument/2006/relationships/image" Target="../media/image10.png"/><Relationship Id="rId11" Type="http://schemas.openxmlformats.org/officeDocument/2006/relationships/image" Target="../media/image14.svg"/><Relationship Id="rId5" Type="http://schemas.openxmlformats.org/officeDocument/2006/relationships/image" Target="../media/image9.png"/><Relationship Id="rId15" Type="http://schemas.openxmlformats.org/officeDocument/2006/relationships/image" Target="../media/image18.sv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microsoft.com/office/2007/relationships/hdphoto" Target="../media/hdphoto2.wdp"/><Relationship Id="rId1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Relationship Id="rId6" Type="http://schemas.microsoft.com/office/2007/relationships/hdphoto" Target="../media/hdphoto2.wdp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16.sv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matplotlib.org/stable/users/index.html" TargetMode="External"/><Relationship Id="rId3" Type="http://schemas.openxmlformats.org/officeDocument/2006/relationships/notesSlide" Target="../notesSlides/notesSlide7.xml"/><Relationship Id="rId7" Type="http://schemas.openxmlformats.org/officeDocument/2006/relationships/hyperlink" Target="https://pandas.pydata.org/docs/" TargetMode="External"/><Relationship Id="rId12" Type="http://schemas.microsoft.com/office/2007/relationships/hdphoto" Target="../media/hdphoto2.wdp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Relationship Id="rId6" Type="http://schemas.openxmlformats.org/officeDocument/2006/relationships/hyperlink" Target="https://docs.streamlit.io/" TargetMode="External"/><Relationship Id="rId11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hyperlink" Target="https://www.kaggle.com/datasets/tharunprabu/my-expenses-data" TargetMode="External"/><Relationship Id="rId4" Type="http://schemas.openxmlformats.org/officeDocument/2006/relationships/image" Target="../media/image10.png"/><Relationship Id="rId9" Type="http://schemas.openxmlformats.org/officeDocument/2006/relationships/hyperlink" Target="https://www.python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D8D1F3E-A718-089B-FF83-F8174F6429A4}"/>
              </a:ext>
            </a:extLst>
          </p:cNvPr>
          <p:cNvSpPr txBox="1"/>
          <p:nvPr/>
        </p:nvSpPr>
        <p:spPr>
          <a:xfrm>
            <a:off x="357553" y="834390"/>
            <a:ext cx="81463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Eras Bold ITC" panose="020B0907030504020204" pitchFamily="34" charset="0"/>
              </a:rPr>
              <a:t>PERSONAL EXPENSE TRACKER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45B223-4F2E-60F1-2733-DAD7681B3772}"/>
              </a:ext>
            </a:extLst>
          </p:cNvPr>
          <p:cNvSpPr txBox="1"/>
          <p:nvPr/>
        </p:nvSpPr>
        <p:spPr>
          <a:xfrm>
            <a:off x="389824" y="2634079"/>
            <a:ext cx="7539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A 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Streamlit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-powered application for insightful financial management and expense tracking.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AE7722-2BEB-F9EF-19DB-24882D8DB74E}"/>
              </a:ext>
            </a:extLst>
          </p:cNvPr>
          <p:cNvSpPr txBox="1"/>
          <p:nvPr/>
        </p:nvSpPr>
        <p:spPr>
          <a:xfrm>
            <a:off x="445770" y="4061460"/>
            <a:ext cx="918649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Project By:</a:t>
            </a:r>
            <a:endParaRPr lang="en-US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Bahnschrift" panose="020B0502040204020203" pitchFamily="34" charset="0"/>
              </a:rPr>
              <a:t>Aarush </a:t>
            </a:r>
            <a:r>
              <a:rPr 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Dambal</a:t>
            </a:r>
            <a:r>
              <a:rPr lang="en-US" sz="1200" dirty="0">
                <a:solidFill>
                  <a:schemeClr val="bg1"/>
                </a:solidFill>
                <a:latin typeface="Bahnschrift" panose="020B0502040204020203" pitchFamily="34" charset="0"/>
              </a:rPr>
              <a:t> (PRN: 1262253440)</a:t>
            </a:r>
          </a:p>
          <a:p>
            <a:r>
              <a:rPr lang="en-US" sz="1200" dirty="0">
                <a:solidFill>
                  <a:schemeClr val="bg1"/>
                </a:solidFill>
                <a:latin typeface="Bahnschrift" panose="020B0502040204020203" pitchFamily="34" charset="0"/>
              </a:rPr>
              <a:t>Syed Rushan (PRN: 1262254036)</a:t>
            </a:r>
          </a:p>
          <a:p>
            <a:r>
              <a:rPr lang="en-US" sz="1200" dirty="0">
                <a:solidFill>
                  <a:schemeClr val="bg1"/>
                </a:solidFill>
                <a:latin typeface="Bahnschrift" panose="020B0502040204020203" pitchFamily="34" charset="0"/>
              </a:rPr>
              <a:t>Krishna Rajeev (PRN: 1262250802)</a:t>
            </a:r>
          </a:p>
          <a:p>
            <a:r>
              <a:rPr lang="en-US" sz="1200" dirty="0">
                <a:solidFill>
                  <a:schemeClr val="bg1"/>
                </a:solidFill>
                <a:latin typeface="Bahnschrift" panose="020B0502040204020203" pitchFamily="34" charset="0"/>
              </a:rPr>
              <a:t>Rushil Mital (PRN: 1262253595)</a:t>
            </a:r>
          </a:p>
          <a:p>
            <a:r>
              <a:rPr lang="en-US" sz="1200" dirty="0">
                <a:solidFill>
                  <a:schemeClr val="bg1"/>
                </a:solidFill>
                <a:latin typeface="Bahnschrift" panose="020B0502040204020203" pitchFamily="34" charset="0"/>
              </a:rPr>
              <a:t>Anushri Gawande (PRN: 1262253726)</a:t>
            </a:r>
          </a:p>
          <a:p>
            <a:r>
              <a:rPr lang="en-US" sz="1200" dirty="0">
                <a:solidFill>
                  <a:schemeClr val="bg1"/>
                </a:solidFill>
                <a:latin typeface="Bahnschrift" panose="020B0502040204020203" pitchFamily="34" charset="0"/>
              </a:rPr>
              <a:t>Chinmay Sail (PRN: 1262251017)</a:t>
            </a:r>
          </a:p>
          <a:p>
            <a:endParaRPr lang="en-US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Under the Guidance of:</a:t>
            </a:r>
          </a:p>
          <a:p>
            <a:r>
              <a:rPr lang="en-US" sz="1400" dirty="0">
                <a:solidFill>
                  <a:schemeClr val="bg1"/>
                </a:solidFill>
                <a:latin typeface="Bahnschrift" panose="020B0502040204020203" pitchFamily="34" charset="0"/>
              </a:rPr>
              <a:t>Dr. Neha Sathe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0D03C4-B76E-1B44-BB7C-2C4841218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764780" y="376555"/>
            <a:ext cx="10515600" cy="8755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Eras Bold ITC" panose="020B0907030504020204" pitchFamily="34" charset="0"/>
              </a:rPr>
              <a:t>THE MAIN GOAL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39F849-A515-250D-BB43-9AF4109D8C13}"/>
              </a:ext>
            </a:extLst>
          </p:cNvPr>
          <p:cNvSpPr/>
          <p:nvPr/>
        </p:nvSpPr>
        <p:spPr>
          <a:xfrm>
            <a:off x="-7661910" y="2525426"/>
            <a:ext cx="7560444" cy="1680210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Eras Bold ITC" panose="020B0907030504020204" pitchFamily="34" charset="0"/>
              </a:rPr>
              <a:t>PROBLEM STATEMENT</a:t>
            </a:r>
          </a:p>
          <a:p>
            <a:endParaRPr lang="en-US" sz="2000" dirty="0">
              <a:latin typeface="Eras Bold ITC" panose="020B0907030504020204" pitchFamily="34" charset="0"/>
            </a:endParaRPr>
          </a:p>
          <a:p>
            <a:r>
              <a:rPr lang="en-US" dirty="0">
                <a:latin typeface="Bahnschrift" panose="020B0502040204020203" pitchFamily="34" charset="0"/>
              </a:rPr>
              <a:t>Individuals struggle with manual expense tracking, leading to poor financial insights and budgeting difficulties.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1B513A5-CE8F-A8E3-036D-DF1679C39B7B}"/>
              </a:ext>
            </a:extLst>
          </p:cNvPr>
          <p:cNvSpPr/>
          <p:nvPr/>
        </p:nvSpPr>
        <p:spPr>
          <a:xfrm>
            <a:off x="-7661911" y="4362047"/>
            <a:ext cx="7560445" cy="2088085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Eras Bold ITC" panose="020B0907030504020204" pitchFamily="34" charset="0"/>
              </a:rPr>
              <a:t>OBJECTIVE</a:t>
            </a:r>
          </a:p>
          <a:p>
            <a:endParaRPr lang="en-US" dirty="0"/>
          </a:p>
          <a:p>
            <a:r>
              <a:rPr lang="en-US" dirty="0">
                <a:latin typeface="Bahnschrift" panose="020B0502040204020203" pitchFamily="34" charset="0"/>
              </a:rPr>
              <a:t>To develop a user-friendly expense tracker that automates finance analysis, providing insights into spending habits and promoting better financial health.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7A9B9AB-35CB-ACA4-8EC4-72ADC5CE5499}"/>
              </a:ext>
            </a:extLst>
          </p:cNvPr>
          <p:cNvSpPr txBox="1">
            <a:spLocks/>
          </p:cNvSpPr>
          <p:nvPr/>
        </p:nvSpPr>
        <p:spPr>
          <a:xfrm>
            <a:off x="-7753350" y="1252134"/>
            <a:ext cx="7768590" cy="9297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50" dirty="0">
                <a:solidFill>
                  <a:schemeClr val="bg1"/>
                </a:solidFill>
                <a:latin typeface="Bahnschrift" panose="020B0502040204020203" pitchFamily="34" charset="0"/>
              </a:rPr>
              <a:t>Managing personal finances can often lead to overspending and a lack of financial clarity. Our project addresses this challenge head-on</a:t>
            </a:r>
          </a:p>
        </p:txBody>
      </p:sp>
      <p:pic>
        <p:nvPicPr>
          <p:cNvPr id="1026" name="Picture 2" descr="Black Technology Pictures | Download Free Images on Unsplash">
            <a:extLst>
              <a:ext uri="{FF2B5EF4-FFF2-40B4-BE49-F238E27FC236}">
                <a16:creationId xmlns:a16="http://schemas.microsoft.com/office/drawing/2014/main" id="{4758D1E5-F221-583B-DC74-83058DF172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891" r="1"/>
          <a:stretch>
            <a:fillRect/>
          </a:stretch>
        </p:blipFill>
        <p:spPr bwMode="auto">
          <a:xfrm>
            <a:off x="8503920" y="-5104"/>
            <a:ext cx="752056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Download Developer, Programmer, Coding. Royalty-Free Stock Illustration  Image - Pixabay">
            <a:extLst>
              <a:ext uri="{FF2B5EF4-FFF2-40B4-BE49-F238E27FC236}">
                <a16:creationId xmlns:a16="http://schemas.microsoft.com/office/drawing/2014/main" id="{F08BC621-F4F5-87B7-BDBF-963D61E3C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0995" y="12032"/>
            <a:ext cx="38417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718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7C0EB-CA6A-F291-697E-46664E25B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" y="37655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Eras Bold ITC" panose="020B0907030504020204" pitchFamily="34" charset="0"/>
              </a:rPr>
              <a:t>THE MAIN GOAL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72FCF6-0770-455B-C6DC-A6D9A7D3F5B9}"/>
              </a:ext>
            </a:extLst>
          </p:cNvPr>
          <p:cNvSpPr/>
          <p:nvPr/>
        </p:nvSpPr>
        <p:spPr>
          <a:xfrm>
            <a:off x="415290" y="2525426"/>
            <a:ext cx="7560444" cy="1680210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Eras Bold ITC" panose="020B0907030504020204" pitchFamily="34" charset="0"/>
              </a:rPr>
              <a:t>PROBLEM STATEMENT</a:t>
            </a:r>
          </a:p>
          <a:p>
            <a:endParaRPr lang="en-US" sz="2000" dirty="0">
              <a:latin typeface="Eras Bold ITC" panose="020B0907030504020204" pitchFamily="34" charset="0"/>
            </a:endParaRPr>
          </a:p>
          <a:p>
            <a:r>
              <a:rPr lang="en-US" dirty="0">
                <a:latin typeface="Bahnschrift" panose="020B0502040204020203" pitchFamily="34" charset="0"/>
              </a:rPr>
              <a:t>Individuals struggle with manual expense tracking, leading to poor financial insights and budgeting difficulties.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0E69B49-F9A6-6ED5-98DB-BC74C965791B}"/>
              </a:ext>
            </a:extLst>
          </p:cNvPr>
          <p:cNvSpPr/>
          <p:nvPr/>
        </p:nvSpPr>
        <p:spPr>
          <a:xfrm>
            <a:off x="415289" y="4362047"/>
            <a:ext cx="7560445" cy="2088085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Eras Bold ITC" panose="020B0907030504020204" pitchFamily="34" charset="0"/>
              </a:rPr>
              <a:t>OBJECTIVE</a:t>
            </a:r>
          </a:p>
          <a:p>
            <a:endParaRPr lang="en-US" dirty="0"/>
          </a:p>
          <a:p>
            <a:r>
              <a:rPr lang="en-US" dirty="0">
                <a:latin typeface="Bahnschrift" panose="020B0502040204020203" pitchFamily="34" charset="0"/>
              </a:rPr>
              <a:t>To develop a user-friendly expense tracker that automates finance analysis, providing insights into spending habits and promoting better financial health.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CC13873-B228-61A0-5201-A2C8CCA0E1E3}"/>
              </a:ext>
            </a:extLst>
          </p:cNvPr>
          <p:cNvSpPr txBox="1">
            <a:spLocks/>
          </p:cNvSpPr>
          <p:nvPr/>
        </p:nvSpPr>
        <p:spPr>
          <a:xfrm>
            <a:off x="323850" y="1252134"/>
            <a:ext cx="7768590" cy="9297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50" dirty="0">
                <a:solidFill>
                  <a:schemeClr val="bg1"/>
                </a:solidFill>
                <a:latin typeface="Bahnschrift" panose="020B0502040204020203" pitchFamily="34" charset="0"/>
              </a:rPr>
              <a:t>Managing personal finances can often lead to overspending and a lack of financial clarity. Our project addresses this challenge head-on</a:t>
            </a:r>
          </a:p>
        </p:txBody>
      </p:sp>
      <p:pic>
        <p:nvPicPr>
          <p:cNvPr id="2052" name="Picture 4" descr="Download Developer, Programmer, Coding. Royalty-Free Stock Illustration  Image - Pixabay">
            <a:extLst>
              <a:ext uri="{FF2B5EF4-FFF2-40B4-BE49-F238E27FC236}">
                <a16:creationId xmlns:a16="http://schemas.microsoft.com/office/drawing/2014/main" id="{DC87BFB9-14C2-AA5E-8D8A-EFAC6F7C6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0570" y="12032"/>
            <a:ext cx="38417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725423-9D74-E8F8-6D6B-0EF51754EB94}"/>
              </a:ext>
            </a:extLst>
          </p:cNvPr>
          <p:cNvSpPr txBox="1"/>
          <p:nvPr/>
        </p:nvSpPr>
        <p:spPr>
          <a:xfrm>
            <a:off x="445770" y="6987540"/>
            <a:ext cx="918649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Project By:</a:t>
            </a:r>
            <a:endParaRPr lang="en-US" dirty="0">
              <a:solidFill>
                <a:schemeClr val="bg1"/>
              </a:solidFill>
              <a:latin typeface="Eras Bold ITC" panose="020B0907030504020204" pitchFamily="34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Bahnschrift" panose="020B0502040204020203" pitchFamily="34" charset="0"/>
              </a:rPr>
              <a:t>Aarush </a:t>
            </a:r>
            <a:r>
              <a:rPr lang="en-US" sz="1200" dirty="0" err="1">
                <a:solidFill>
                  <a:schemeClr val="bg1"/>
                </a:solidFill>
                <a:latin typeface="Bahnschrift" panose="020B0502040204020203" pitchFamily="34" charset="0"/>
              </a:rPr>
              <a:t>Dambal</a:t>
            </a:r>
            <a:r>
              <a:rPr lang="en-US" sz="1200" dirty="0">
                <a:solidFill>
                  <a:schemeClr val="bg1"/>
                </a:solidFill>
                <a:latin typeface="Bahnschrift" panose="020B0502040204020203" pitchFamily="34" charset="0"/>
              </a:rPr>
              <a:t> (PRN: 1262253440)</a:t>
            </a:r>
          </a:p>
          <a:p>
            <a:r>
              <a:rPr lang="en-US" sz="1200" dirty="0">
                <a:solidFill>
                  <a:schemeClr val="bg1"/>
                </a:solidFill>
                <a:latin typeface="Bahnschrift" panose="020B0502040204020203" pitchFamily="34" charset="0"/>
              </a:rPr>
              <a:t>Syed Rushan (PRN: 1262254036)</a:t>
            </a:r>
          </a:p>
          <a:p>
            <a:r>
              <a:rPr lang="en-US" sz="1200" dirty="0">
                <a:solidFill>
                  <a:schemeClr val="bg1"/>
                </a:solidFill>
                <a:latin typeface="Bahnschrift" panose="020B0502040204020203" pitchFamily="34" charset="0"/>
              </a:rPr>
              <a:t>Krishna Rajeev (PRN: 1262250802)</a:t>
            </a:r>
          </a:p>
          <a:p>
            <a:r>
              <a:rPr lang="en-US" sz="1200" dirty="0">
                <a:solidFill>
                  <a:schemeClr val="bg1"/>
                </a:solidFill>
                <a:latin typeface="Bahnschrift" panose="020B0502040204020203" pitchFamily="34" charset="0"/>
              </a:rPr>
              <a:t>Rushil Mital (PRN: 126225)</a:t>
            </a:r>
          </a:p>
          <a:p>
            <a:r>
              <a:rPr lang="en-US" sz="1200" dirty="0">
                <a:solidFill>
                  <a:schemeClr val="bg1"/>
                </a:solidFill>
                <a:latin typeface="Bahnschrift" panose="020B0502040204020203" pitchFamily="34" charset="0"/>
              </a:rPr>
              <a:t>Anushri Gawande (PRN: 126225)</a:t>
            </a:r>
          </a:p>
          <a:p>
            <a:r>
              <a:rPr lang="en-US" sz="1200" dirty="0">
                <a:solidFill>
                  <a:schemeClr val="bg1"/>
                </a:solidFill>
                <a:latin typeface="Bahnschrift" panose="020B0502040204020203" pitchFamily="34" charset="0"/>
              </a:rPr>
              <a:t>Chinmay Sail (PRN: 126225)</a:t>
            </a:r>
          </a:p>
          <a:p>
            <a:endParaRPr lang="en-US" sz="14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Eras Bold ITC" panose="020B0907030504020204" pitchFamily="34" charset="0"/>
              </a:rPr>
              <a:t>Under the Guidance of:</a:t>
            </a:r>
          </a:p>
          <a:p>
            <a:r>
              <a:rPr lang="en-US" sz="1400" dirty="0">
                <a:solidFill>
                  <a:schemeClr val="bg1"/>
                </a:solidFill>
                <a:latin typeface="Bahnschrift" panose="020B0502040204020203" pitchFamily="34" charset="0"/>
              </a:rPr>
              <a:t>Dr. Neha Sathe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7259D5-4873-5427-FB5C-07890417467B}"/>
              </a:ext>
            </a:extLst>
          </p:cNvPr>
          <p:cNvSpPr txBox="1"/>
          <p:nvPr/>
        </p:nvSpPr>
        <p:spPr>
          <a:xfrm>
            <a:off x="357553" y="-2606040"/>
            <a:ext cx="81463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Eras Bold ITC" panose="020B0907030504020204" pitchFamily="34" charset="0"/>
              </a:rPr>
              <a:t>PERSONAL EXPENSE TRACKER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7928E6-2C65-270E-B4E7-54A5B2BA3CE6}"/>
              </a:ext>
            </a:extLst>
          </p:cNvPr>
          <p:cNvSpPr txBox="1"/>
          <p:nvPr/>
        </p:nvSpPr>
        <p:spPr>
          <a:xfrm>
            <a:off x="365760" y="-806351"/>
            <a:ext cx="7539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A 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Streamlit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-powered application for insightful financial management and expense tracking.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7641908-CF4D-3BB0-81EB-5B69CDDB364F}"/>
              </a:ext>
            </a:extLst>
          </p:cNvPr>
          <p:cNvSpPr txBox="1">
            <a:spLocks/>
          </p:cNvSpPr>
          <p:nvPr/>
        </p:nvSpPr>
        <p:spPr>
          <a:xfrm>
            <a:off x="-11066746" y="4806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  <a:latin typeface="Eras Bold ITC" panose="020B0907030504020204" pitchFamily="34" charset="0"/>
              </a:rPr>
              <a:t>METHODOLOGY</a:t>
            </a:r>
            <a:endParaRPr lang="en-US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7D5BF1-ED41-5756-E2BE-1BBD591CF9F8}"/>
              </a:ext>
            </a:extLst>
          </p:cNvPr>
          <p:cNvSpPr txBox="1"/>
          <p:nvPr/>
        </p:nvSpPr>
        <p:spPr>
          <a:xfrm>
            <a:off x="-11066746" y="1635015"/>
            <a:ext cx="112928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Our expense tracker leverages powerful Python libraries and a streamlined workflow for efficient data processing and </a:t>
            </a:r>
            <a:r>
              <a:rPr lang="en-US" dirty="0" err="1">
                <a:solidFill>
                  <a:prstClr val="white"/>
                </a:solidFill>
                <a:latin typeface="Bahnschrift" panose="020B0502040204020203" pitchFamily="34" charset="0"/>
              </a:rPr>
              <a:t>visualisation</a:t>
            </a:r>
            <a:endParaRPr lang="en-US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endParaRPr lang="en-US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Users upload a CSV bank statement, which is then processed, </a:t>
            </a:r>
            <a:r>
              <a:rPr lang="en-US" dirty="0" err="1">
                <a:solidFill>
                  <a:prstClr val="white"/>
                </a:solidFill>
                <a:latin typeface="Bahnschrift" panose="020B0502040204020203" pitchFamily="34" charset="0"/>
              </a:rPr>
              <a:t>analysed</a:t>
            </a: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, and </a:t>
            </a:r>
            <a:r>
              <a:rPr lang="en-US" dirty="0" err="1">
                <a:solidFill>
                  <a:prstClr val="white"/>
                </a:solidFill>
                <a:latin typeface="Bahnschrift" panose="020B0502040204020203" pitchFamily="34" charset="0"/>
              </a:rPr>
              <a:t>visualised</a:t>
            </a: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 to present a clear overview of their financial activities.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0727013-2B78-AB69-A704-A60C932CE62E}"/>
              </a:ext>
            </a:extLst>
          </p:cNvPr>
          <p:cNvSpPr/>
          <p:nvPr/>
        </p:nvSpPr>
        <p:spPr>
          <a:xfrm>
            <a:off x="518160" y="7178221"/>
            <a:ext cx="6328410" cy="2379248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ras Bold ITC" panose="020B0907030504020204" pitchFamily="34" charset="0"/>
                <a:ea typeface="+mn-ea"/>
                <a:cs typeface="+mn-cs"/>
              </a:rPr>
              <a:t>KEY TOOLS AND LIBRARIES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ras Bold ITC" panose="020B0907030504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Streamlit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   For creating interactive web applications.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 Pandas: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     For robust data manipulation and analysis.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Matplotlib: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  For generating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visualisations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 and charts. </a:t>
            </a:r>
          </a:p>
        </p:txBody>
      </p:sp>
      <p:pic>
        <p:nvPicPr>
          <p:cNvPr id="12" name="Picture 2" descr="Python Logo, symbol, meaning, history, PNG, brand">
            <a:extLst>
              <a:ext uri="{FF2B5EF4-FFF2-40B4-BE49-F238E27FC236}">
                <a16:creationId xmlns:a16="http://schemas.microsoft.com/office/drawing/2014/main" id="{F1750C92-4854-8D7C-1C8A-346321E932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14" r="20955"/>
          <a:stretch>
            <a:fillRect/>
          </a:stretch>
        </p:blipFill>
        <p:spPr bwMode="auto">
          <a:xfrm rot="8323610">
            <a:off x="-1385457" y="-1089520"/>
            <a:ext cx="965857" cy="929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powershell Vector Icons free download in SVG, PNG Format">
            <a:extLst>
              <a:ext uri="{FF2B5EF4-FFF2-40B4-BE49-F238E27FC236}">
                <a16:creationId xmlns:a16="http://schemas.microsoft.com/office/drawing/2014/main" id="{3FE6BE4B-CA9B-B93E-E07D-28741D131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61807">
            <a:off x="-1462837" y="6830746"/>
            <a:ext cx="1223010" cy="1223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08263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EDC4-62C9-D10B-47CA-8108714EF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30" y="480629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Eras Bold ITC" panose="020B0907030504020204" pitchFamily="34" charset="0"/>
              </a:rPr>
              <a:t>METHODOLOGY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D2AF66-50F0-6872-9BF3-E3C42AD10CBD}"/>
              </a:ext>
            </a:extLst>
          </p:cNvPr>
          <p:cNvSpPr txBox="1">
            <a:spLocks/>
          </p:cNvSpPr>
          <p:nvPr/>
        </p:nvSpPr>
        <p:spPr>
          <a:xfrm>
            <a:off x="392430" y="2709764"/>
            <a:ext cx="10695873" cy="9297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800" dirty="0">
              <a:solidFill>
                <a:prstClr val="white"/>
              </a:solidFill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011860-8929-D11B-66B7-C25FC1C306D2}"/>
              </a:ext>
            </a:extLst>
          </p:cNvPr>
          <p:cNvSpPr/>
          <p:nvPr/>
        </p:nvSpPr>
        <p:spPr>
          <a:xfrm>
            <a:off x="518160" y="3559531"/>
            <a:ext cx="6328410" cy="2379248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Eras Bold ITC" panose="020B0907030504020204" pitchFamily="34" charset="0"/>
                <a:ea typeface="+mn-ea"/>
                <a:cs typeface="+mn-cs"/>
              </a:rPr>
              <a:t>KEY TOOLS AND LIBRARIES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ras Bold ITC" panose="020B0907030504020204" pitchFamily="34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Streamlit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   For creating interactive web applications.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 Pandas: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     For robust data manipulation and analysis.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Matplotlib: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  For generating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visualisations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 and charts.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A3C916-9B1A-62E4-DEE9-0200D97BE42A}"/>
              </a:ext>
            </a:extLst>
          </p:cNvPr>
          <p:cNvSpPr txBox="1"/>
          <p:nvPr/>
        </p:nvSpPr>
        <p:spPr>
          <a:xfrm>
            <a:off x="392430" y="1635015"/>
            <a:ext cx="112928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Our expense tracker leverages powerful Python libraries and a streamlined workflow for efficient data processing and visualization</a:t>
            </a:r>
          </a:p>
          <a:p>
            <a:endParaRPr lang="en-US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Users upload a CSV bank statement, which is then processed, analyzed and visualized to present a clear overview of their financial activities.</a:t>
            </a:r>
          </a:p>
        </p:txBody>
      </p:sp>
      <p:pic>
        <p:nvPicPr>
          <p:cNvPr id="3074" name="Picture 2" descr="Python Logo, symbol, meaning, history, PNG, brand">
            <a:extLst>
              <a:ext uri="{FF2B5EF4-FFF2-40B4-BE49-F238E27FC236}">
                <a16:creationId xmlns:a16="http://schemas.microsoft.com/office/drawing/2014/main" id="{BE16F5B1-2EA9-4DC2-AFFD-7A246ABB3D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14" r="20955"/>
          <a:stretch>
            <a:fillRect/>
          </a:stretch>
        </p:blipFill>
        <p:spPr bwMode="auto">
          <a:xfrm rot="21322155">
            <a:off x="8789670" y="3677033"/>
            <a:ext cx="965857" cy="929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powershell Vector Icons free download in SVG, PNG Format">
            <a:extLst>
              <a:ext uri="{FF2B5EF4-FFF2-40B4-BE49-F238E27FC236}">
                <a16:creationId xmlns:a16="http://schemas.microsoft.com/office/drawing/2014/main" id="{8AF7E120-924B-3B31-C4E9-8B584F747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89039">
            <a:off x="9529412" y="4398829"/>
            <a:ext cx="1223010" cy="1223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Download Developer, Programmer, Coding. Royalty-Free Stock Illustration  Image - Pixabay">
            <a:extLst>
              <a:ext uri="{FF2B5EF4-FFF2-40B4-BE49-F238E27FC236}">
                <a16:creationId xmlns:a16="http://schemas.microsoft.com/office/drawing/2014/main" id="{DDF10BB5-AF3B-66F5-09D7-AB3BA9555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6770" y="12032"/>
            <a:ext cx="38417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1C46DB0-6858-DE7C-2D5F-D39E58B92AA1}"/>
              </a:ext>
            </a:extLst>
          </p:cNvPr>
          <p:cNvSpPr/>
          <p:nvPr/>
        </p:nvSpPr>
        <p:spPr>
          <a:xfrm>
            <a:off x="4555490" y="-2452974"/>
            <a:ext cx="7560444" cy="1680210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Eras Bold ITC" panose="020B0907030504020204" pitchFamily="34" charset="0"/>
              </a:rPr>
              <a:t>PROBLEM STATEMENT</a:t>
            </a:r>
          </a:p>
          <a:p>
            <a:endParaRPr lang="en-US" sz="2000" dirty="0">
              <a:latin typeface="Eras Bold ITC" panose="020B0907030504020204" pitchFamily="34" charset="0"/>
            </a:endParaRPr>
          </a:p>
          <a:p>
            <a:r>
              <a:rPr lang="en-US" dirty="0">
                <a:latin typeface="Bahnschrift" panose="020B0502040204020203" pitchFamily="34" charset="0"/>
              </a:rPr>
              <a:t>Individuals struggle with manual expense tracking, leading to poor financial insights and budgeting difficulties.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F14B44A-2525-CBDF-DDDF-2BDF37AB3CE7}"/>
              </a:ext>
            </a:extLst>
          </p:cNvPr>
          <p:cNvSpPr/>
          <p:nvPr/>
        </p:nvSpPr>
        <p:spPr>
          <a:xfrm>
            <a:off x="4530089" y="7156047"/>
            <a:ext cx="7560445" cy="2088085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Eras Bold ITC" panose="020B0907030504020204" pitchFamily="34" charset="0"/>
              </a:rPr>
              <a:t>OBJECTIVE</a:t>
            </a:r>
          </a:p>
          <a:p>
            <a:endParaRPr lang="en-US" dirty="0"/>
          </a:p>
          <a:p>
            <a:r>
              <a:rPr lang="en-US" dirty="0">
                <a:latin typeface="Bahnschrift" panose="020B0502040204020203" pitchFamily="34" charset="0"/>
              </a:rPr>
              <a:t>To develop a user-friendly expense tracker that automates finance analysis, providing insights into spending habits and promoting better financial health.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0CFDC06-6AD8-015D-444C-ACB296098E00}"/>
              </a:ext>
            </a:extLst>
          </p:cNvPr>
          <p:cNvSpPr txBox="1">
            <a:spLocks/>
          </p:cNvSpPr>
          <p:nvPr/>
        </p:nvSpPr>
        <p:spPr>
          <a:xfrm>
            <a:off x="312420" y="-239204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  <a:latin typeface="Eras Bold ITC" panose="020B0907030504020204" pitchFamily="34" charset="0"/>
              </a:rPr>
              <a:t>THE MAIN GOAL</a:t>
            </a:r>
            <a:endParaRPr lang="en-US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85FDACE-3F0B-E8BE-6B0A-54EF30327140}"/>
              </a:ext>
            </a:extLst>
          </p:cNvPr>
          <p:cNvSpPr txBox="1">
            <a:spLocks/>
          </p:cNvSpPr>
          <p:nvPr/>
        </p:nvSpPr>
        <p:spPr>
          <a:xfrm>
            <a:off x="323850" y="-1516466"/>
            <a:ext cx="7768590" cy="9297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50">
                <a:solidFill>
                  <a:schemeClr val="bg1"/>
                </a:solidFill>
                <a:latin typeface="Bahnschrift" panose="020B0502040204020203" pitchFamily="34" charset="0"/>
              </a:rPr>
              <a:t>Managing personal finances can often lead to overspending and a lack of financial clarity. Our project addresses this challenge head-on</a:t>
            </a:r>
            <a:endParaRPr lang="en-US" sz="185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0324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5D338A-666B-91B1-EC62-5A284D9993F0}"/>
              </a:ext>
            </a:extLst>
          </p:cNvPr>
          <p:cNvSpPr txBox="1"/>
          <p:nvPr/>
        </p:nvSpPr>
        <p:spPr>
          <a:xfrm>
            <a:off x="382611" y="497562"/>
            <a:ext cx="114496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Eras Bold ITC" panose="020B0907030504020204" pitchFamily="34" charset="0"/>
              </a:rPr>
              <a:t>WORKFLOW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CC931C-0620-6CE3-56AA-464125F353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12" t="7781" r="6625"/>
          <a:stretch>
            <a:fillRect/>
          </a:stretch>
        </p:blipFill>
        <p:spPr>
          <a:xfrm>
            <a:off x="1228430" y="1752362"/>
            <a:ext cx="9770413" cy="44084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652A13B-E38C-7B9A-EE93-208D47669F3F}"/>
              </a:ext>
            </a:extLst>
          </p:cNvPr>
          <p:cNvSpPr txBox="1"/>
          <p:nvPr/>
        </p:nvSpPr>
        <p:spPr>
          <a:xfrm>
            <a:off x="12316542" y="4233374"/>
            <a:ext cx="571076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User uploads a bank statement CSV.</a:t>
            </a:r>
          </a:p>
          <a:p>
            <a:endParaRPr lang="en-US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Immediately after upload, the dashboard becomes active.</a:t>
            </a:r>
          </a:p>
          <a:p>
            <a:endParaRPr lang="en-US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If no file is uploaded, 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Streamlit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 shows a simple “Please upload a CSV” message.</a:t>
            </a:r>
          </a:p>
        </p:txBody>
      </p:sp>
    </p:spTree>
    <p:extLst>
      <p:ext uri="{BB962C8B-B14F-4D97-AF65-F5344CB8AC3E}">
        <p14:creationId xmlns:p14="http://schemas.microsoft.com/office/powerpoint/2010/main" val="34088345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:push dir="u"/>
      </p:transition>
    </mc:Choice>
    <mc:Fallback xmlns="">
      <p:transition spd="slow"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81DF4-694B-0367-F2EE-FF61796A3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0EA109-A642-4A77-1F88-C6D1EF5C8D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12" t="7781" r="6625"/>
          <a:stretch>
            <a:fillRect/>
          </a:stretch>
        </p:blipFill>
        <p:spPr>
          <a:xfrm>
            <a:off x="176871" y="837962"/>
            <a:ext cx="8635660" cy="38964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EDAE4E9-1CFB-5968-598F-D205A8FAFF49}"/>
              </a:ext>
            </a:extLst>
          </p:cNvPr>
          <p:cNvSpPr txBox="1"/>
          <p:nvPr/>
        </p:nvSpPr>
        <p:spPr>
          <a:xfrm>
            <a:off x="6304362" y="4233374"/>
            <a:ext cx="571076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User uploads a bank statement CSV.</a:t>
            </a:r>
          </a:p>
          <a:p>
            <a:endParaRPr lang="en-US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Immediately after upload, the dashboard becomes active.</a:t>
            </a:r>
          </a:p>
          <a:p>
            <a:endParaRPr lang="en-US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If no file is uploaded, 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Streamlit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 shows a simple “Please upload a CSV” message.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180B82-A5B2-1360-D8DE-E333FEAC5847}"/>
              </a:ext>
            </a:extLst>
          </p:cNvPr>
          <p:cNvSpPr txBox="1"/>
          <p:nvPr/>
        </p:nvSpPr>
        <p:spPr>
          <a:xfrm>
            <a:off x="382611" y="7177762"/>
            <a:ext cx="11449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Eras Bold ITC" panose="020B0907030504020204" pitchFamily="34" charset="0"/>
              </a:rPr>
              <a:t>DATA LOADING  AND PREPROCESSING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5B982F-77F0-A9C1-7133-D701E05D127F}"/>
              </a:ext>
            </a:extLst>
          </p:cNvPr>
          <p:cNvSpPr/>
          <p:nvPr/>
        </p:nvSpPr>
        <p:spPr>
          <a:xfrm>
            <a:off x="1946661" y="8891005"/>
            <a:ext cx="8294370" cy="2446020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prstClr val="white"/>
                </a:solidFill>
                <a:latin typeface="Eras Bold ITC" panose="020B0907030504020204" pitchFamily="34" charset="0"/>
              </a:rPr>
              <a:t>COLUMN NORMALIZATION</a:t>
            </a:r>
          </a:p>
          <a:p>
            <a:endParaRPr lang="en-US" sz="20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All column names are cleaned (trimmed + title-case).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Different bank formats are handled by renaming known variations such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“Transaction Date” → “Date”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“Expense” / “Value” → “Amount”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“Expenses/Income”, “Income/Expense” → “Type”</a:t>
            </a:r>
          </a:p>
        </p:txBody>
      </p:sp>
    </p:spTree>
    <p:extLst>
      <p:ext uri="{BB962C8B-B14F-4D97-AF65-F5344CB8AC3E}">
        <p14:creationId xmlns:p14="http://schemas.microsoft.com/office/powerpoint/2010/main" val="1824300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4F80A-7826-764C-1C92-4FA79DEF9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227785-EB28-8269-666C-6FCEFAB5FF5D}"/>
              </a:ext>
            </a:extLst>
          </p:cNvPr>
          <p:cNvSpPr txBox="1"/>
          <p:nvPr/>
        </p:nvSpPr>
        <p:spPr>
          <a:xfrm>
            <a:off x="382611" y="497562"/>
            <a:ext cx="11449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Eras Bold ITC" panose="020B0907030504020204" pitchFamily="34" charset="0"/>
              </a:rPr>
              <a:t>DATA LOADING  AND PREPROCESSING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80C3071-E211-2060-F4DA-F80EF83F2580}"/>
              </a:ext>
            </a:extLst>
          </p:cNvPr>
          <p:cNvSpPr/>
          <p:nvPr/>
        </p:nvSpPr>
        <p:spPr>
          <a:xfrm>
            <a:off x="1946661" y="2210805"/>
            <a:ext cx="8294370" cy="2446020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prstClr val="white"/>
                </a:solidFill>
                <a:latin typeface="Eras Bold ITC" panose="020B0907030504020204" pitchFamily="34" charset="0"/>
              </a:rPr>
              <a:t>COLUMN NORMALIZATION</a:t>
            </a:r>
          </a:p>
          <a:p>
            <a:endParaRPr lang="en-US" sz="20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All column names are cleaned (trimmed + title-case).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Different bank formats are handled by renaming known variations such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“Transaction Date” → “Date”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“Expense” / “Value” → “Amount”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“Expenses/Income”, “Income/Expense” → “Type”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6507DE-EB0F-9A0F-813F-823E0C6570FB}"/>
              </a:ext>
            </a:extLst>
          </p:cNvPr>
          <p:cNvSpPr/>
          <p:nvPr/>
        </p:nvSpPr>
        <p:spPr>
          <a:xfrm>
            <a:off x="505118" y="7522388"/>
            <a:ext cx="5425440" cy="1724636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prstClr val="white"/>
                </a:solidFill>
                <a:latin typeface="Eras Bold ITC" panose="020B0907030504020204" pitchFamily="34" charset="0"/>
              </a:rPr>
              <a:t>DATATYPE CONVERSION</a:t>
            </a:r>
            <a:endParaRPr lang="en-US" sz="7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endParaRPr lang="en-US" sz="10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Converts Date to datetime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Converts Amount column to numeric.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Removes rows with missing dates or amounts.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FCF933D-6A73-644E-E193-674C2D708D86}"/>
              </a:ext>
            </a:extLst>
          </p:cNvPr>
          <p:cNvSpPr/>
          <p:nvPr/>
        </p:nvSpPr>
        <p:spPr>
          <a:xfrm>
            <a:off x="5930558" y="7335033"/>
            <a:ext cx="5901690" cy="2099346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prstClr val="white"/>
                </a:solidFill>
                <a:latin typeface="Eras Bold ITC" panose="020B0907030504020204" pitchFamily="34" charset="0"/>
              </a:rPr>
              <a:t>ADDITIONAL FEATURES</a:t>
            </a:r>
            <a:endParaRPr lang="en-US" sz="7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endParaRPr lang="en-US" sz="10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In type column, rows labeled ‘Income’ are converted to negative amounts.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Month name and Month number column added for easier data visualization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43A3A2-C49F-8610-CDBC-7D1C6EEFE1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12" t="7781" r="6625"/>
          <a:stretch>
            <a:fillRect/>
          </a:stretch>
        </p:blipFill>
        <p:spPr>
          <a:xfrm>
            <a:off x="176871" y="-5461238"/>
            <a:ext cx="8635660" cy="38964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C092B8-E214-DB0F-A4A6-30A85744D40A}"/>
              </a:ext>
            </a:extLst>
          </p:cNvPr>
          <p:cNvSpPr txBox="1"/>
          <p:nvPr/>
        </p:nvSpPr>
        <p:spPr>
          <a:xfrm>
            <a:off x="6304362" y="-2065826"/>
            <a:ext cx="571076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User uploads a bank statement CSV.</a:t>
            </a:r>
          </a:p>
          <a:p>
            <a:endParaRPr lang="en-US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Immediately after upload, the dashboard becomes active.</a:t>
            </a:r>
          </a:p>
          <a:p>
            <a:endParaRPr lang="en-US" sz="12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If no file is uploaded, </a:t>
            </a:r>
            <a:r>
              <a:rPr lang="en-US" dirty="0" err="1">
                <a:solidFill>
                  <a:schemeClr val="bg1"/>
                </a:solidFill>
                <a:latin typeface="Bahnschrift" panose="020B0502040204020203" pitchFamily="34" charset="0"/>
              </a:rPr>
              <a:t>Streamlit</a:t>
            </a:r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 shows a simple “Please upload a CSV” message.</a:t>
            </a:r>
          </a:p>
        </p:txBody>
      </p:sp>
    </p:spTree>
    <p:extLst>
      <p:ext uri="{BB962C8B-B14F-4D97-AF65-F5344CB8AC3E}">
        <p14:creationId xmlns:p14="http://schemas.microsoft.com/office/powerpoint/2010/main" val="1688997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430A3-8B7D-B55C-1E05-4D10149D4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721C5B-EDC7-8F2D-7432-0AB23145207E}"/>
              </a:ext>
            </a:extLst>
          </p:cNvPr>
          <p:cNvSpPr txBox="1"/>
          <p:nvPr/>
        </p:nvSpPr>
        <p:spPr>
          <a:xfrm>
            <a:off x="382611" y="497562"/>
            <a:ext cx="11449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Eras Bold ITC" panose="020B0907030504020204" pitchFamily="34" charset="0"/>
              </a:rPr>
              <a:t>DATA LOADING  AND PREPROCESSING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FB5FF0-3A56-3EF6-00DC-5CB953B0D521}"/>
              </a:ext>
            </a:extLst>
          </p:cNvPr>
          <p:cNvSpPr/>
          <p:nvPr/>
        </p:nvSpPr>
        <p:spPr>
          <a:xfrm>
            <a:off x="5930558" y="7335033"/>
            <a:ext cx="5901690" cy="2099346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prstClr val="white"/>
                </a:solidFill>
                <a:latin typeface="Eras Bold ITC" panose="020B0907030504020204" pitchFamily="34" charset="0"/>
              </a:rPr>
              <a:t>ADDITIONAL FEATURES</a:t>
            </a:r>
            <a:endParaRPr lang="en-US" sz="7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endParaRPr lang="en-US" sz="10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In type column, rows labeled ‘Income’ are converted to negative amounts.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Month name and Month number column added for easier data visualization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A7E1D9A-B4BA-A44F-F53D-7E9CE8C10A14}"/>
              </a:ext>
            </a:extLst>
          </p:cNvPr>
          <p:cNvSpPr/>
          <p:nvPr/>
        </p:nvSpPr>
        <p:spPr>
          <a:xfrm>
            <a:off x="429148" y="1568783"/>
            <a:ext cx="8294370" cy="2446020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prstClr val="white"/>
                </a:solidFill>
                <a:latin typeface="Eras Bold ITC" panose="020B0907030504020204" pitchFamily="34" charset="0"/>
              </a:rPr>
              <a:t>COLUMN NORMALIZATION</a:t>
            </a:r>
          </a:p>
          <a:p>
            <a:endParaRPr lang="en-US" sz="20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All column names are cleaned (trimmed + title-case).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Different bank formats are handled by renaming known variations such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“Transaction Date” → “Date”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“Expense” / “Value” → “Amount”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“Expenses/Income”, “Income/Expense” → “Type”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CAC3617-EDB9-0BF7-B2F8-90139DD29CCA}"/>
              </a:ext>
            </a:extLst>
          </p:cNvPr>
          <p:cNvSpPr/>
          <p:nvPr/>
        </p:nvSpPr>
        <p:spPr>
          <a:xfrm>
            <a:off x="407843" y="4397280"/>
            <a:ext cx="5425440" cy="1963157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prstClr val="white"/>
                </a:solidFill>
                <a:latin typeface="Eras Bold ITC" panose="020B0907030504020204" pitchFamily="34" charset="0"/>
              </a:rPr>
              <a:t>DATATYPE CONVERSION</a:t>
            </a:r>
            <a:endParaRPr lang="en-US" sz="7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endParaRPr lang="en-US" sz="10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Converts Date to datetime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Converts Amount column to numeric.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Removes rows with missing dates or amounts.</a:t>
            </a:r>
          </a:p>
        </p:txBody>
      </p:sp>
    </p:spTree>
    <p:extLst>
      <p:ext uri="{BB962C8B-B14F-4D97-AF65-F5344CB8AC3E}">
        <p14:creationId xmlns:p14="http://schemas.microsoft.com/office/powerpoint/2010/main" val="1208903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5FD5F-7896-03CD-75D4-E81E716A3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4C6DAB-42BF-C1C8-610C-2FC6C81AEF8E}"/>
              </a:ext>
            </a:extLst>
          </p:cNvPr>
          <p:cNvSpPr txBox="1"/>
          <p:nvPr/>
        </p:nvSpPr>
        <p:spPr>
          <a:xfrm>
            <a:off x="382611" y="497562"/>
            <a:ext cx="11449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Eras Bold ITC" panose="020B0907030504020204" pitchFamily="34" charset="0"/>
              </a:rPr>
              <a:t>DATA LOADING  AND PREPROCESSING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2FF6A8-8CA9-EAEE-B7D4-D3B5EB3FBFFB}"/>
              </a:ext>
            </a:extLst>
          </p:cNvPr>
          <p:cNvSpPr/>
          <p:nvPr/>
        </p:nvSpPr>
        <p:spPr>
          <a:xfrm>
            <a:off x="429148" y="1568783"/>
            <a:ext cx="8294370" cy="2446020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prstClr val="white"/>
                </a:solidFill>
                <a:latin typeface="Eras Bold ITC" panose="020B0907030504020204" pitchFamily="34" charset="0"/>
              </a:rPr>
              <a:t>COLUMN NORMALIZATION</a:t>
            </a:r>
          </a:p>
          <a:p>
            <a:endParaRPr lang="en-US" sz="20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All column names are cleaned (trimmed + title-case).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Different bank formats are handled by renaming known variations such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“Transaction Date” → “Date”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“Expense” / “Value” → “Amount”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“Expenses/Income”, “Income/Expense” → “Type”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B9564BB-325E-D461-7CC6-8D143653ACF9}"/>
              </a:ext>
            </a:extLst>
          </p:cNvPr>
          <p:cNvSpPr/>
          <p:nvPr/>
        </p:nvSpPr>
        <p:spPr>
          <a:xfrm>
            <a:off x="407843" y="4397280"/>
            <a:ext cx="5425440" cy="1963157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prstClr val="white"/>
                </a:solidFill>
                <a:latin typeface="Eras Bold ITC" panose="020B0907030504020204" pitchFamily="34" charset="0"/>
              </a:rPr>
              <a:t>DATATYPE CONVERSION</a:t>
            </a:r>
            <a:endParaRPr lang="en-US" sz="7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endParaRPr lang="en-US" sz="10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Converts Date to datetime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Converts Amount column to numeric.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Removes rows with missing dates or amounts.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865A21-5D95-2361-A0F4-1810925D104B}"/>
              </a:ext>
            </a:extLst>
          </p:cNvPr>
          <p:cNvSpPr/>
          <p:nvPr/>
        </p:nvSpPr>
        <p:spPr>
          <a:xfrm>
            <a:off x="5950021" y="4397280"/>
            <a:ext cx="5901690" cy="2099346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prstClr val="white"/>
                </a:solidFill>
                <a:latin typeface="Eras Bold ITC" panose="020B0907030504020204" pitchFamily="34" charset="0"/>
              </a:rPr>
              <a:t>ADDITIONAL FEATURES</a:t>
            </a:r>
            <a:endParaRPr lang="en-US" sz="7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endParaRPr lang="en-US" sz="10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In type column, rows labeled ‘Income’ are converted to negative amounts.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Month name and Month number column added for easier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342457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EAC8C-6DBA-E083-1C55-7B9964E74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024D05D-1680-93D3-D03C-038ABB82BC9B}"/>
              </a:ext>
            </a:extLst>
          </p:cNvPr>
          <p:cNvSpPr/>
          <p:nvPr/>
        </p:nvSpPr>
        <p:spPr>
          <a:xfrm>
            <a:off x="-8831579" y="1568783"/>
            <a:ext cx="8294370" cy="2446020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prstClr val="white"/>
                </a:solidFill>
                <a:latin typeface="Eras Bold ITC" panose="020B0907030504020204" pitchFamily="34" charset="0"/>
              </a:rPr>
              <a:t>COLUMN NORMALIZATION</a:t>
            </a:r>
          </a:p>
          <a:p>
            <a:endParaRPr lang="en-US" sz="20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All column names are cleaned (trimmed + title-case).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Different bank formats are handled by renaming known variations such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“Transaction Date” → “Date”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“Expense” / “Value” → “Amount”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“Expenses/Income”, “Income/Expense” → “Type”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4E2F6A-FE31-9C11-2BF5-340D63477739}"/>
              </a:ext>
            </a:extLst>
          </p:cNvPr>
          <p:cNvSpPr/>
          <p:nvPr/>
        </p:nvSpPr>
        <p:spPr>
          <a:xfrm>
            <a:off x="-5740036" y="4397280"/>
            <a:ext cx="5425440" cy="1963157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prstClr val="white"/>
                </a:solidFill>
                <a:latin typeface="Eras Bold ITC" panose="020B0907030504020204" pitchFamily="34" charset="0"/>
              </a:rPr>
              <a:t>DATATYPE CONVERSION</a:t>
            </a:r>
            <a:endParaRPr lang="en-US" sz="7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endParaRPr lang="en-US" sz="10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Converts Date to datetime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Converts Amount column to numeric.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Removes rows with missing dates or amounts.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086DEC9-51C3-AE9C-21F8-B75D3C7A79C7}"/>
              </a:ext>
            </a:extLst>
          </p:cNvPr>
          <p:cNvSpPr/>
          <p:nvPr/>
        </p:nvSpPr>
        <p:spPr>
          <a:xfrm>
            <a:off x="12448093" y="4397280"/>
            <a:ext cx="5901690" cy="2099346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prstClr val="white"/>
                </a:solidFill>
                <a:latin typeface="Eras Bold ITC" panose="020B0907030504020204" pitchFamily="34" charset="0"/>
              </a:rPr>
              <a:t>ADDITIONAL FEATURES</a:t>
            </a:r>
            <a:endParaRPr lang="en-US" sz="7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endParaRPr lang="en-US" sz="1000" dirty="0">
              <a:solidFill>
                <a:prstClr val="white"/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In type column, rows labeled ‘Income’ are converted to negative amounts.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Month name and Month number column added for easier data visualization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2CAF05-72E9-8B58-6FE4-A396B2F00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7853"/>
            <a:ext cx="12192000" cy="58694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1F640F-532F-918B-244A-7C15E29E243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210"/>
          <a:stretch>
            <a:fillRect/>
          </a:stretch>
        </p:blipFill>
        <p:spPr>
          <a:xfrm>
            <a:off x="0" y="5494155"/>
            <a:ext cx="12192000" cy="52702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85D3AE-A1C9-2FB8-8C80-E54A05C7BDC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114"/>
          <a:stretch>
            <a:fillRect/>
          </a:stretch>
        </p:blipFill>
        <p:spPr>
          <a:xfrm>
            <a:off x="0" y="10224770"/>
            <a:ext cx="12192000" cy="52758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CA01BF-31E7-4BD1-93C9-5471652185B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1637"/>
          <a:stretch>
            <a:fillRect/>
          </a:stretch>
        </p:blipFill>
        <p:spPr>
          <a:xfrm>
            <a:off x="0" y="15477490"/>
            <a:ext cx="12192000" cy="51864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A422AD-6FB0-61D7-6323-3201AE6BF7D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1516"/>
          <a:stretch>
            <a:fillRect/>
          </a:stretch>
        </p:blipFill>
        <p:spPr>
          <a:xfrm>
            <a:off x="0" y="20350995"/>
            <a:ext cx="12192000" cy="519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0950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:push dir="u"/>
      </p:transition>
    </mc:Choice>
    <mc:Fallback xmlns="">
      <p:transition spd="slow">
        <p:push dir="u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09E86-4A90-71F7-45E2-3A84C79E4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736623-1C5A-AD3D-D4B4-D71EFB698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6617747"/>
            <a:ext cx="12192000" cy="58694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469E32-FA14-A815-9C06-7F8603A398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210"/>
          <a:stretch>
            <a:fillRect/>
          </a:stretch>
        </p:blipFill>
        <p:spPr>
          <a:xfrm>
            <a:off x="0" y="-1211445"/>
            <a:ext cx="12192000" cy="52702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D6A3A-9781-E005-ABB4-82CFD82E228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114"/>
          <a:stretch>
            <a:fillRect/>
          </a:stretch>
        </p:blipFill>
        <p:spPr>
          <a:xfrm>
            <a:off x="0" y="3519170"/>
            <a:ext cx="12192000" cy="52758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F50ACF9-D86F-9B2F-1CEA-60C3B1339CB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1637"/>
          <a:stretch>
            <a:fillRect/>
          </a:stretch>
        </p:blipFill>
        <p:spPr>
          <a:xfrm>
            <a:off x="0" y="8771890"/>
            <a:ext cx="12192000" cy="51864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2C3DA1-0351-486D-B930-C243FE18BA7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1516"/>
          <a:stretch>
            <a:fillRect/>
          </a:stretch>
        </p:blipFill>
        <p:spPr>
          <a:xfrm>
            <a:off x="0" y="13645395"/>
            <a:ext cx="12192000" cy="519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870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7D155-6469-384D-590D-5EBC7311A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AC7C5B4-4806-3DD3-27CC-B9B7EE5D4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2637547"/>
            <a:ext cx="12192000" cy="58694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9226B9-E41F-F4E9-B927-7BAF462503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210"/>
          <a:stretch>
            <a:fillRect/>
          </a:stretch>
        </p:blipFill>
        <p:spPr>
          <a:xfrm>
            <a:off x="0" y="-7231245"/>
            <a:ext cx="12192000" cy="52702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CD40AD-C632-6C3F-1918-CE3E1B0C937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114"/>
          <a:stretch>
            <a:fillRect/>
          </a:stretch>
        </p:blipFill>
        <p:spPr>
          <a:xfrm>
            <a:off x="0" y="-2500630"/>
            <a:ext cx="12192000" cy="52758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AEBA02-79D2-E0B4-25FD-39206B9FC6D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1637"/>
          <a:stretch>
            <a:fillRect/>
          </a:stretch>
        </p:blipFill>
        <p:spPr>
          <a:xfrm>
            <a:off x="0" y="2752090"/>
            <a:ext cx="12192000" cy="51864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888CBC-C4B4-4582-9DEC-082FA2821D4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1516"/>
          <a:stretch>
            <a:fillRect/>
          </a:stretch>
        </p:blipFill>
        <p:spPr>
          <a:xfrm>
            <a:off x="0" y="7625595"/>
            <a:ext cx="12192000" cy="519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55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C5172D-11B5-9996-68DB-318961A31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555747"/>
            <a:ext cx="12192000" cy="58694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6C3B7A-9CB5-4491-FE15-A670CFA305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210"/>
          <a:stretch>
            <a:fillRect/>
          </a:stretch>
        </p:blipFill>
        <p:spPr>
          <a:xfrm>
            <a:off x="0" y="-13149445"/>
            <a:ext cx="12192000" cy="52702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A5FB6F-00BD-4DE8-C730-5C75BF56817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114"/>
          <a:stretch>
            <a:fillRect/>
          </a:stretch>
        </p:blipFill>
        <p:spPr>
          <a:xfrm>
            <a:off x="0" y="-8418830"/>
            <a:ext cx="12192000" cy="5275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3D77F8-1734-F2CB-F755-B1D601789B8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1637"/>
          <a:stretch>
            <a:fillRect/>
          </a:stretch>
        </p:blipFill>
        <p:spPr>
          <a:xfrm>
            <a:off x="0" y="-3166110"/>
            <a:ext cx="12192000" cy="51864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9880F0-EAFB-387D-A463-CBC92C67503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1516"/>
          <a:stretch>
            <a:fillRect/>
          </a:stretch>
        </p:blipFill>
        <p:spPr>
          <a:xfrm>
            <a:off x="0" y="1707395"/>
            <a:ext cx="12192000" cy="5193561"/>
          </a:xfrm>
          <a:prstGeom prst="rect">
            <a:avLst/>
          </a:prstGeom>
        </p:spPr>
      </p:pic>
      <p:pic>
        <p:nvPicPr>
          <p:cNvPr id="14" name="Picture 4" descr="798,700+ Dark Technology Stock Photos, Pictures &amp; Royalty-Free Images -  iStock | Dark technology background, Dark technology background abstract,  Abstract dark technology">
            <a:extLst>
              <a:ext uri="{FF2B5EF4-FFF2-40B4-BE49-F238E27FC236}">
                <a16:creationId xmlns:a16="http://schemas.microsoft.com/office/drawing/2014/main" id="{25EDBC1D-8B64-D86A-4B2F-A22489BAD1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869" r="24898"/>
          <a:stretch>
            <a:fillRect/>
          </a:stretch>
        </p:blipFill>
        <p:spPr bwMode="auto">
          <a:xfrm>
            <a:off x="-4770004" y="0"/>
            <a:ext cx="466471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01A116D-B5C3-761B-3B62-260FA95F5705}"/>
              </a:ext>
            </a:extLst>
          </p:cNvPr>
          <p:cNvSpPr/>
          <p:nvPr/>
        </p:nvSpPr>
        <p:spPr>
          <a:xfrm>
            <a:off x="13544387" y="2739452"/>
            <a:ext cx="6410960" cy="1073330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Eras Bold ITC" panose="020B0907030504020204" pitchFamily="34" charset="0"/>
              </a:rPr>
              <a:t>ENHANCED FINANCIAL AWARENESS</a:t>
            </a:r>
            <a:endParaRPr lang="en-US" dirty="0">
              <a:latin typeface="Eras Bold ITC" panose="020B0907030504020204" pitchFamily="34" charset="0"/>
            </a:endParaRPr>
          </a:p>
          <a:p>
            <a:endParaRPr lang="en-US" sz="700" dirty="0"/>
          </a:p>
          <a:p>
            <a:r>
              <a:rPr lang="en-US" dirty="0">
                <a:latin typeface="Bahnschrift" panose="020B0502040204020203" pitchFamily="34" charset="0"/>
              </a:rPr>
              <a:t>Users gain a clear understanding of their spending patterns.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489EC37-AFD5-5B42-7A00-A02254C39D2A}"/>
              </a:ext>
            </a:extLst>
          </p:cNvPr>
          <p:cNvSpPr/>
          <p:nvPr/>
        </p:nvSpPr>
        <p:spPr>
          <a:xfrm>
            <a:off x="13544387" y="3959728"/>
            <a:ext cx="6410961" cy="1073330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Eras Bold ITC" panose="020B0907030504020204" pitchFamily="34" charset="0"/>
              </a:rPr>
              <a:t>IMPROVED BUDGETING</a:t>
            </a:r>
          </a:p>
          <a:p>
            <a:endParaRPr lang="en-US" sz="600" dirty="0"/>
          </a:p>
          <a:p>
            <a:r>
              <a:rPr lang="en-US" dirty="0">
                <a:latin typeface="Bahnschrift" panose="020B0502040204020203" pitchFamily="34" charset="0"/>
              </a:rPr>
              <a:t>Facilitates better financial planning and saving habits.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08581F5-EEFD-55F5-15E4-9D29570DABC6}"/>
              </a:ext>
            </a:extLst>
          </p:cNvPr>
          <p:cNvSpPr/>
          <p:nvPr/>
        </p:nvSpPr>
        <p:spPr>
          <a:xfrm>
            <a:off x="13544387" y="5180004"/>
            <a:ext cx="6410961" cy="1073330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Eras Bold ITC" panose="020B0907030504020204" pitchFamily="34" charset="0"/>
              </a:rPr>
              <a:t>SIMPLIFIED TRACKING</a:t>
            </a:r>
          </a:p>
          <a:p>
            <a:endParaRPr lang="en-US" sz="600" dirty="0"/>
          </a:p>
          <a:p>
            <a:r>
              <a:rPr lang="en-US" dirty="0">
                <a:latin typeface="Bahnschrift" panose="020B0502040204020203" pitchFamily="34" charset="0"/>
              </a:rPr>
              <a:t>Automates the process, saving time and reducing errors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7B1C738-AD36-89A6-8DAB-6C3640E17E31}"/>
              </a:ext>
            </a:extLst>
          </p:cNvPr>
          <p:cNvGrpSpPr/>
          <p:nvPr/>
        </p:nvGrpSpPr>
        <p:grpSpPr>
          <a:xfrm>
            <a:off x="12544705" y="2883136"/>
            <a:ext cx="792000" cy="792000"/>
            <a:chOff x="4079263" y="2917292"/>
            <a:chExt cx="792000" cy="792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F939F5A-D7F2-50AF-5619-F182D67CFB19}"/>
                </a:ext>
              </a:extLst>
            </p:cNvPr>
            <p:cNvSpPr/>
            <p:nvPr/>
          </p:nvSpPr>
          <p:spPr>
            <a:xfrm>
              <a:off x="4079263" y="2917292"/>
              <a:ext cx="792000" cy="792000"/>
            </a:xfrm>
            <a:prstGeom prst="ellipse">
              <a:avLst/>
            </a:prstGeom>
            <a:gradFill>
              <a:gsLst>
                <a:gs pos="100000">
                  <a:srgbClr val="1C1F24"/>
                </a:gs>
                <a:gs pos="0">
                  <a:srgbClr val="0B0C10">
                    <a:alpha val="0"/>
                  </a:srgbClr>
                </a:gs>
              </a:gsLst>
              <a:lin ang="15000000" scaled="0"/>
            </a:gradFill>
            <a:ln w="3175">
              <a:gradFill flip="none" rotWithShape="1">
                <a:gsLst>
                  <a:gs pos="100000">
                    <a:srgbClr val="000000"/>
                  </a:gs>
                  <a:gs pos="0">
                    <a:srgbClr val="1C1F24"/>
                  </a:gs>
                </a:gsLst>
                <a:lin ang="15000000" scaled="0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000" dirty="0">
                <a:latin typeface="Eras Bold ITC" panose="020B0907030504020204" pitchFamily="34" charset="0"/>
              </a:endParaRPr>
            </a:p>
          </p:txBody>
        </p:sp>
        <p:pic>
          <p:nvPicPr>
            <p:cNvPr id="20" name="Graphic 19" descr="Bar graph with upward trend with solid fill">
              <a:extLst>
                <a:ext uri="{FF2B5EF4-FFF2-40B4-BE49-F238E27FC236}">
                  <a16:creationId xmlns:a16="http://schemas.microsoft.com/office/drawing/2014/main" id="{4A258182-21B1-78C8-2E4C-E28EEAF90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144913" y="3015092"/>
              <a:ext cx="648000" cy="648000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22C23DD-E7C7-A7C3-85AE-F98F632554C0}"/>
              </a:ext>
            </a:extLst>
          </p:cNvPr>
          <p:cNvGrpSpPr/>
          <p:nvPr/>
        </p:nvGrpSpPr>
        <p:grpSpPr>
          <a:xfrm>
            <a:off x="12538355" y="5320669"/>
            <a:ext cx="792000" cy="792000"/>
            <a:chOff x="4035241" y="5460551"/>
            <a:chExt cx="792000" cy="79200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7627748-67B7-5212-0EA0-0F6416223F5F}"/>
                </a:ext>
              </a:extLst>
            </p:cNvPr>
            <p:cNvSpPr/>
            <p:nvPr/>
          </p:nvSpPr>
          <p:spPr>
            <a:xfrm>
              <a:off x="4035241" y="5460551"/>
              <a:ext cx="792000" cy="792000"/>
            </a:xfrm>
            <a:prstGeom prst="ellipse">
              <a:avLst/>
            </a:prstGeom>
            <a:gradFill>
              <a:gsLst>
                <a:gs pos="100000">
                  <a:srgbClr val="1C1F24"/>
                </a:gs>
                <a:gs pos="0">
                  <a:srgbClr val="0B0C10">
                    <a:alpha val="0"/>
                  </a:srgbClr>
                </a:gs>
              </a:gsLst>
              <a:lin ang="15000000" scaled="0"/>
            </a:gradFill>
            <a:ln w="3175">
              <a:gradFill flip="none" rotWithShape="1">
                <a:gsLst>
                  <a:gs pos="100000">
                    <a:srgbClr val="000000"/>
                  </a:gs>
                  <a:gs pos="0">
                    <a:srgbClr val="1C1F24"/>
                  </a:gs>
                </a:gsLst>
                <a:lin ang="15000000" scaled="0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000">
                <a:latin typeface="Eras Bold ITC" panose="020B0907030504020204" pitchFamily="34" charset="0"/>
              </a:endParaRPr>
            </a:p>
          </p:txBody>
        </p:sp>
        <p:pic>
          <p:nvPicPr>
            <p:cNvPr id="23" name="Graphic 22" descr="Male profile with solid fill">
              <a:extLst>
                <a:ext uri="{FF2B5EF4-FFF2-40B4-BE49-F238E27FC236}">
                  <a16:creationId xmlns:a16="http://schemas.microsoft.com/office/drawing/2014/main" id="{9B1DBC84-A9BC-5B82-3930-55EB49823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107237" y="5528854"/>
              <a:ext cx="648000" cy="6480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FFC8FE2-BEA4-F29C-8384-39BFE61C66FE}"/>
              </a:ext>
            </a:extLst>
          </p:cNvPr>
          <p:cNvGrpSpPr/>
          <p:nvPr/>
        </p:nvGrpSpPr>
        <p:grpSpPr>
          <a:xfrm>
            <a:off x="12541539" y="4103751"/>
            <a:ext cx="792000" cy="792000"/>
            <a:chOff x="4035237" y="4236578"/>
            <a:chExt cx="792000" cy="792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F3034E4-355D-2923-EF87-ACCF068178D2}"/>
                </a:ext>
              </a:extLst>
            </p:cNvPr>
            <p:cNvSpPr/>
            <p:nvPr/>
          </p:nvSpPr>
          <p:spPr>
            <a:xfrm>
              <a:off x="4035237" y="4236578"/>
              <a:ext cx="792000" cy="792000"/>
            </a:xfrm>
            <a:prstGeom prst="ellipse">
              <a:avLst/>
            </a:prstGeom>
            <a:gradFill>
              <a:gsLst>
                <a:gs pos="100000">
                  <a:srgbClr val="1C1F24"/>
                </a:gs>
                <a:gs pos="0">
                  <a:srgbClr val="0B0C10">
                    <a:alpha val="0"/>
                  </a:srgbClr>
                </a:gs>
              </a:gsLst>
              <a:lin ang="15000000" scaled="0"/>
            </a:gradFill>
            <a:ln w="3175">
              <a:gradFill flip="none" rotWithShape="1">
                <a:gsLst>
                  <a:gs pos="100000">
                    <a:srgbClr val="000000"/>
                  </a:gs>
                  <a:gs pos="0">
                    <a:srgbClr val="1C1F24"/>
                  </a:gs>
                </a:gsLst>
                <a:lin ang="15000000" scaled="0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000" dirty="0">
                <a:latin typeface="Eras Bold ITC" panose="020B0907030504020204" pitchFamily="34" charset="0"/>
              </a:endParaRPr>
            </a:p>
          </p:txBody>
        </p:sp>
        <p:pic>
          <p:nvPicPr>
            <p:cNvPr id="26" name="Graphic 25" descr="Piggy Bank with solid fill">
              <a:extLst>
                <a:ext uri="{FF2B5EF4-FFF2-40B4-BE49-F238E27FC236}">
                  <a16:creationId xmlns:a16="http://schemas.microsoft.com/office/drawing/2014/main" id="{6CAE10FE-86D6-3C60-B452-718CE63F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107237" y="4308578"/>
              <a:ext cx="648000" cy="648000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55F3E4D-0709-BC04-AF9F-973791F25C6E}"/>
              </a:ext>
            </a:extLst>
          </p:cNvPr>
          <p:cNvSpPr txBox="1"/>
          <p:nvPr/>
        </p:nvSpPr>
        <p:spPr>
          <a:xfrm>
            <a:off x="3996690" y="-2550438"/>
            <a:ext cx="7835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Eras Bold ITC" panose="020B0907030504020204" pitchFamily="34" charset="0"/>
              </a:rPr>
              <a:t>CONCLUSION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9477DBEE-3A9E-C399-F4F9-6ADF01D26F81}"/>
              </a:ext>
            </a:extLst>
          </p:cNvPr>
          <p:cNvSpPr txBox="1">
            <a:spLocks/>
          </p:cNvSpPr>
          <p:nvPr/>
        </p:nvSpPr>
        <p:spPr>
          <a:xfrm>
            <a:off x="4060995" y="-1492147"/>
            <a:ext cx="7460445" cy="9297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Our expense tracker provides a powerful, yet simple solution for personal finance management.</a:t>
            </a:r>
            <a:endParaRPr lang="en-US" sz="185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9061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71332-5592-244B-C6F6-C6D016F69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566E397-5113-F3DD-E8A0-F9FE7B4887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637"/>
          <a:stretch>
            <a:fillRect/>
          </a:stretch>
        </p:blipFill>
        <p:spPr>
          <a:xfrm>
            <a:off x="0" y="-10208932"/>
            <a:ext cx="12192000" cy="51864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C1255E-BCB7-599A-5E8C-7B2487E4DB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516"/>
          <a:stretch>
            <a:fillRect/>
          </a:stretch>
        </p:blipFill>
        <p:spPr>
          <a:xfrm>
            <a:off x="0" y="-5335427"/>
            <a:ext cx="12192000" cy="51935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0A9D9D-C071-848A-85C2-393C3499CBB4}"/>
              </a:ext>
            </a:extLst>
          </p:cNvPr>
          <p:cNvSpPr txBox="1"/>
          <p:nvPr/>
        </p:nvSpPr>
        <p:spPr>
          <a:xfrm>
            <a:off x="3996690" y="548362"/>
            <a:ext cx="7835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Eras Bold ITC" panose="020B0907030504020204" pitchFamily="34" charset="0"/>
              </a:rPr>
              <a:t>CONCLUSION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1B8354-9659-934F-5052-FC2DAF95C0DE}"/>
              </a:ext>
            </a:extLst>
          </p:cNvPr>
          <p:cNvSpPr txBox="1">
            <a:spLocks/>
          </p:cNvSpPr>
          <p:nvPr/>
        </p:nvSpPr>
        <p:spPr>
          <a:xfrm>
            <a:off x="4060995" y="1505053"/>
            <a:ext cx="7460445" cy="9297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Our expense tracker provides a powerful, yet simple solution for personal finance management.</a:t>
            </a:r>
            <a:endParaRPr lang="en-US" sz="185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325B467-DAB9-A25A-B02B-5EB59FD2A5F9}"/>
              </a:ext>
            </a:extLst>
          </p:cNvPr>
          <p:cNvSpPr/>
          <p:nvPr/>
        </p:nvSpPr>
        <p:spPr>
          <a:xfrm>
            <a:off x="5213187" y="2739452"/>
            <a:ext cx="6410960" cy="1073330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Eras Bold ITC" panose="020B0907030504020204" pitchFamily="34" charset="0"/>
              </a:rPr>
              <a:t>ENHANCED FINANCIAL AWARENESS</a:t>
            </a:r>
            <a:endParaRPr lang="en-US" dirty="0">
              <a:latin typeface="Eras Bold ITC" panose="020B0907030504020204" pitchFamily="34" charset="0"/>
            </a:endParaRPr>
          </a:p>
          <a:p>
            <a:endParaRPr lang="en-US" sz="700" dirty="0"/>
          </a:p>
          <a:p>
            <a:r>
              <a:rPr lang="en-US" dirty="0">
                <a:latin typeface="Bahnschrift" panose="020B0502040204020203" pitchFamily="34" charset="0"/>
              </a:rPr>
              <a:t>Users gain a clear understanding of their spending patterns.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C0158C5-16CE-2883-5A55-FFD795E0F0DC}"/>
              </a:ext>
            </a:extLst>
          </p:cNvPr>
          <p:cNvSpPr/>
          <p:nvPr/>
        </p:nvSpPr>
        <p:spPr>
          <a:xfrm>
            <a:off x="5213187" y="3959728"/>
            <a:ext cx="6410961" cy="1073330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Eras Bold ITC" panose="020B0907030504020204" pitchFamily="34" charset="0"/>
              </a:rPr>
              <a:t>IMPROVED BUDGETING</a:t>
            </a:r>
          </a:p>
          <a:p>
            <a:endParaRPr lang="en-US" sz="600" dirty="0"/>
          </a:p>
          <a:p>
            <a:r>
              <a:rPr lang="en-US" dirty="0">
                <a:latin typeface="Bahnschrift" panose="020B0502040204020203" pitchFamily="34" charset="0"/>
              </a:rPr>
              <a:t>Facilitates better financial planning and saving habits.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AEEDFA6-BCEB-DA24-7D5F-0A2C1D468601}"/>
              </a:ext>
            </a:extLst>
          </p:cNvPr>
          <p:cNvSpPr/>
          <p:nvPr/>
        </p:nvSpPr>
        <p:spPr>
          <a:xfrm>
            <a:off x="5213187" y="5180004"/>
            <a:ext cx="6410961" cy="1073330"/>
          </a:xfrm>
          <a:prstGeom prst="roundRect">
            <a:avLst>
              <a:gd name="adj" fmla="val 7971"/>
            </a:avLst>
          </a:prstGeom>
          <a:gradFill>
            <a:gsLst>
              <a:gs pos="100000">
                <a:srgbClr val="1C1F24"/>
              </a:gs>
              <a:gs pos="0">
                <a:srgbClr val="0B0C10">
                  <a:alpha val="0"/>
                </a:srgbClr>
              </a:gs>
            </a:gsLst>
            <a:lin ang="15000000" scaled="0"/>
          </a:gradFill>
          <a:ln w="3175">
            <a:gradFill flip="none" rotWithShape="1">
              <a:gsLst>
                <a:gs pos="100000">
                  <a:srgbClr val="000000"/>
                </a:gs>
                <a:gs pos="0">
                  <a:srgbClr val="1C1F24"/>
                </a:gs>
              </a:gsLst>
              <a:lin ang="15000000" scaled="0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Eras Bold ITC" panose="020B0907030504020204" pitchFamily="34" charset="0"/>
              </a:rPr>
              <a:t>SIMPLIFIED TRACKING</a:t>
            </a:r>
          </a:p>
          <a:p>
            <a:endParaRPr lang="en-US" sz="600" dirty="0"/>
          </a:p>
          <a:p>
            <a:r>
              <a:rPr lang="en-US" dirty="0">
                <a:latin typeface="Bahnschrift" panose="020B0502040204020203" pitchFamily="34" charset="0"/>
              </a:rPr>
              <a:t>Automates the process, saving time and reducing errors</a:t>
            </a:r>
          </a:p>
        </p:txBody>
      </p:sp>
      <p:pic>
        <p:nvPicPr>
          <p:cNvPr id="2052" name="Picture 4" descr="798,700+ Dark Technology Stock Photos, Pictures &amp; Royalty-Free Images -  iStock | Dark technology background, Dark technology background abstract,  Abstract dark technology">
            <a:extLst>
              <a:ext uri="{FF2B5EF4-FFF2-40B4-BE49-F238E27FC236}">
                <a16:creationId xmlns:a16="http://schemas.microsoft.com/office/drawing/2014/main" id="{3032C7E1-E86C-33D9-E439-83F81F80AC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869" r="24898"/>
          <a:stretch>
            <a:fillRect/>
          </a:stretch>
        </p:blipFill>
        <p:spPr bwMode="auto">
          <a:xfrm>
            <a:off x="-1074304" y="0"/>
            <a:ext cx="466471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B0EA990B-93AF-5043-0A37-1F05CCBCD837}"/>
              </a:ext>
            </a:extLst>
          </p:cNvPr>
          <p:cNvGrpSpPr/>
          <p:nvPr/>
        </p:nvGrpSpPr>
        <p:grpSpPr>
          <a:xfrm>
            <a:off x="4213505" y="2883136"/>
            <a:ext cx="792000" cy="792000"/>
            <a:chOff x="4079263" y="2917292"/>
            <a:chExt cx="792000" cy="79200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F9FE9FA-788C-6F71-DF3C-964C53E626C1}"/>
                </a:ext>
              </a:extLst>
            </p:cNvPr>
            <p:cNvSpPr/>
            <p:nvPr/>
          </p:nvSpPr>
          <p:spPr>
            <a:xfrm>
              <a:off x="4079263" y="2917292"/>
              <a:ext cx="792000" cy="792000"/>
            </a:xfrm>
            <a:prstGeom prst="ellipse">
              <a:avLst/>
            </a:prstGeom>
            <a:gradFill>
              <a:gsLst>
                <a:gs pos="100000">
                  <a:srgbClr val="1C1F24"/>
                </a:gs>
                <a:gs pos="0">
                  <a:srgbClr val="0B0C10">
                    <a:alpha val="0"/>
                  </a:srgbClr>
                </a:gs>
              </a:gsLst>
              <a:lin ang="15000000" scaled="0"/>
            </a:gradFill>
            <a:ln w="3175">
              <a:gradFill flip="none" rotWithShape="1">
                <a:gsLst>
                  <a:gs pos="100000">
                    <a:srgbClr val="000000"/>
                  </a:gs>
                  <a:gs pos="0">
                    <a:srgbClr val="1C1F24"/>
                  </a:gs>
                </a:gsLst>
                <a:lin ang="15000000" scaled="0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000" dirty="0">
                <a:latin typeface="Eras Bold ITC" panose="020B0907030504020204" pitchFamily="34" charset="0"/>
              </a:endParaRPr>
            </a:p>
          </p:txBody>
        </p:sp>
        <p:pic>
          <p:nvPicPr>
            <p:cNvPr id="15" name="Graphic 14" descr="Bar graph with upward trend with solid fill">
              <a:extLst>
                <a:ext uri="{FF2B5EF4-FFF2-40B4-BE49-F238E27FC236}">
                  <a16:creationId xmlns:a16="http://schemas.microsoft.com/office/drawing/2014/main" id="{ED6A0C61-6F58-7984-24DB-13EDA9786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144913" y="3015092"/>
              <a:ext cx="648000" cy="648000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A067B93-184F-E5E9-DEF2-655FBD773F20}"/>
              </a:ext>
            </a:extLst>
          </p:cNvPr>
          <p:cNvGrpSpPr/>
          <p:nvPr/>
        </p:nvGrpSpPr>
        <p:grpSpPr>
          <a:xfrm>
            <a:off x="4207155" y="5320669"/>
            <a:ext cx="792000" cy="792000"/>
            <a:chOff x="4035241" y="5460551"/>
            <a:chExt cx="792000" cy="7920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48FEAFC-4EBC-8141-78CD-C5BDDBB53B62}"/>
                </a:ext>
              </a:extLst>
            </p:cNvPr>
            <p:cNvSpPr/>
            <p:nvPr/>
          </p:nvSpPr>
          <p:spPr>
            <a:xfrm>
              <a:off x="4035241" y="5460551"/>
              <a:ext cx="792000" cy="792000"/>
            </a:xfrm>
            <a:prstGeom prst="ellipse">
              <a:avLst/>
            </a:prstGeom>
            <a:gradFill>
              <a:gsLst>
                <a:gs pos="100000">
                  <a:srgbClr val="1C1F24"/>
                </a:gs>
                <a:gs pos="0">
                  <a:srgbClr val="0B0C10">
                    <a:alpha val="0"/>
                  </a:srgbClr>
                </a:gs>
              </a:gsLst>
              <a:lin ang="15000000" scaled="0"/>
            </a:gradFill>
            <a:ln w="3175">
              <a:gradFill flip="none" rotWithShape="1">
                <a:gsLst>
                  <a:gs pos="100000">
                    <a:srgbClr val="000000"/>
                  </a:gs>
                  <a:gs pos="0">
                    <a:srgbClr val="1C1F24"/>
                  </a:gs>
                </a:gsLst>
                <a:lin ang="15000000" scaled="0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000">
                <a:latin typeface="Eras Bold ITC" panose="020B0907030504020204" pitchFamily="34" charset="0"/>
              </a:endParaRPr>
            </a:p>
          </p:txBody>
        </p:sp>
        <p:pic>
          <p:nvPicPr>
            <p:cNvPr id="17" name="Graphic 16" descr="Male profile with solid fill">
              <a:extLst>
                <a:ext uri="{FF2B5EF4-FFF2-40B4-BE49-F238E27FC236}">
                  <a16:creationId xmlns:a16="http://schemas.microsoft.com/office/drawing/2014/main" id="{ED101BE4-544B-754B-59A4-AD491B9E1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07237" y="5528854"/>
              <a:ext cx="648000" cy="6480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226797D-54E2-57F4-80BA-512055C58C68}"/>
              </a:ext>
            </a:extLst>
          </p:cNvPr>
          <p:cNvGrpSpPr/>
          <p:nvPr/>
        </p:nvGrpSpPr>
        <p:grpSpPr>
          <a:xfrm>
            <a:off x="4210339" y="4103751"/>
            <a:ext cx="792000" cy="792000"/>
            <a:chOff x="4035237" y="4236578"/>
            <a:chExt cx="792000" cy="792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0DDAD55-532A-48D3-45AD-AF6D9CA9C3A4}"/>
                </a:ext>
              </a:extLst>
            </p:cNvPr>
            <p:cNvSpPr/>
            <p:nvPr/>
          </p:nvSpPr>
          <p:spPr>
            <a:xfrm>
              <a:off x="4035237" y="4236578"/>
              <a:ext cx="792000" cy="792000"/>
            </a:xfrm>
            <a:prstGeom prst="ellipse">
              <a:avLst/>
            </a:prstGeom>
            <a:gradFill>
              <a:gsLst>
                <a:gs pos="100000">
                  <a:srgbClr val="1C1F24"/>
                </a:gs>
                <a:gs pos="0">
                  <a:srgbClr val="0B0C10">
                    <a:alpha val="0"/>
                  </a:srgbClr>
                </a:gs>
              </a:gsLst>
              <a:lin ang="15000000" scaled="0"/>
            </a:gradFill>
            <a:ln w="3175">
              <a:gradFill flip="none" rotWithShape="1">
                <a:gsLst>
                  <a:gs pos="100000">
                    <a:srgbClr val="000000"/>
                  </a:gs>
                  <a:gs pos="0">
                    <a:srgbClr val="1C1F24"/>
                  </a:gs>
                </a:gsLst>
                <a:lin ang="15000000" scaled="0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000" dirty="0">
                <a:latin typeface="Eras Bold ITC" panose="020B0907030504020204" pitchFamily="34" charset="0"/>
              </a:endParaRPr>
            </a:p>
          </p:txBody>
        </p:sp>
        <p:pic>
          <p:nvPicPr>
            <p:cNvPr id="19" name="Graphic 18" descr="Piggy Bank with solid fill">
              <a:extLst>
                <a:ext uri="{FF2B5EF4-FFF2-40B4-BE49-F238E27FC236}">
                  <a16:creationId xmlns:a16="http://schemas.microsoft.com/office/drawing/2014/main" id="{9EA97DC0-DD1A-BEAB-70B4-9D12FFAEC6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107237" y="4308578"/>
              <a:ext cx="648000" cy="64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6095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5767A-7D08-4FBC-00B2-20486CF58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76D2537-98B5-6E31-11A7-65C7861206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637"/>
          <a:stretch>
            <a:fillRect/>
          </a:stretch>
        </p:blipFill>
        <p:spPr>
          <a:xfrm>
            <a:off x="0" y="-10208932"/>
            <a:ext cx="12192000" cy="51864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993DAC-260C-D6C5-CA0F-AE9FFFC3E71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516"/>
          <a:stretch>
            <a:fillRect/>
          </a:stretch>
        </p:blipFill>
        <p:spPr>
          <a:xfrm>
            <a:off x="0" y="-5335427"/>
            <a:ext cx="12192000" cy="51935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9046FC-B11A-C86F-2E01-C689AC8D0FC6}"/>
              </a:ext>
            </a:extLst>
          </p:cNvPr>
          <p:cNvSpPr txBox="1"/>
          <p:nvPr/>
        </p:nvSpPr>
        <p:spPr>
          <a:xfrm>
            <a:off x="2177514" y="840192"/>
            <a:ext cx="7835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Eras Bold ITC" panose="020B0907030504020204" pitchFamily="34" charset="0"/>
              </a:rPr>
              <a:t>REFERENCES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8E41F86-D3DB-1CA6-7C2D-BC774187E6F0}"/>
              </a:ext>
            </a:extLst>
          </p:cNvPr>
          <p:cNvSpPr txBox="1">
            <a:spLocks/>
          </p:cNvSpPr>
          <p:nvPr/>
        </p:nvSpPr>
        <p:spPr>
          <a:xfrm>
            <a:off x="2366948" y="1735495"/>
            <a:ext cx="7460445" cy="9297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The following resources and libraries were instrumental in the development of this project:</a:t>
            </a:r>
            <a:endParaRPr lang="en-US" sz="185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63CB5C-36DF-6A5C-3CBF-CD013AC45332}"/>
              </a:ext>
            </a:extLst>
          </p:cNvPr>
          <p:cNvSpPr txBox="1">
            <a:spLocks/>
          </p:cNvSpPr>
          <p:nvPr/>
        </p:nvSpPr>
        <p:spPr>
          <a:xfrm>
            <a:off x="2366948" y="3056021"/>
            <a:ext cx="8422307" cy="2851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Bahnschrift" panose="020B0502040204020203" pitchFamily="34" charset="0"/>
              </a:rPr>
              <a:t>Streamlit</a:t>
            </a: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Documentation: </a:t>
            </a:r>
          </a:p>
          <a:p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                                      </a:t>
            </a: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  <a:hlinkClick r:id="rId6"/>
              </a:rPr>
              <a:t>https://docs.streamlit.io/</a:t>
            </a:r>
            <a:endParaRPr lang="en-US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Pandas Library: </a:t>
            </a:r>
          </a:p>
          <a:p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                                      </a:t>
            </a: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  <a:hlinkClick r:id="rId7"/>
              </a:rPr>
              <a:t>https://pandas.pydata.org/docs/</a:t>
            </a:r>
            <a:endParaRPr lang="en-US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Matplotlib Library: </a:t>
            </a:r>
          </a:p>
          <a:p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                                      </a:t>
            </a: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  <a:hlinkClick r:id="rId8"/>
              </a:rPr>
              <a:t>https://matplotlib.org/stable/users/index.html</a:t>
            </a:r>
            <a:endParaRPr lang="en-US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Programming Language: </a:t>
            </a:r>
          </a:p>
          <a:p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                                      </a:t>
            </a: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  <a:hlinkClick r:id="rId9"/>
              </a:rPr>
              <a:t>https://www.python.org</a:t>
            </a:r>
            <a:endParaRPr lang="en-US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Dataset: </a:t>
            </a:r>
          </a:p>
          <a:p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		           </a:t>
            </a:r>
            <a:r>
              <a:rPr lang="en-US" sz="2000" dirty="0">
                <a:solidFill>
                  <a:srgbClr val="0563C1"/>
                </a:solidFill>
                <a:latin typeface="Bahnschrift" panose="020B0502040204020203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https://www.kaggle.com/datasets/tharunprabu/</a:t>
            </a:r>
          </a:p>
          <a:p>
            <a:r>
              <a:rPr lang="en-US" sz="2000" dirty="0">
                <a:latin typeface="Bahnschrift" panose="020B0502040204020203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		           </a:t>
            </a:r>
            <a:r>
              <a:rPr lang="en-US" sz="2000" dirty="0">
                <a:solidFill>
                  <a:srgbClr val="0563C1"/>
                </a:solidFill>
                <a:latin typeface="Bahnschrift" panose="020B0502040204020203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my-expenses-data</a:t>
            </a:r>
            <a:endParaRPr lang="en-US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endParaRPr lang="en-US" sz="1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3" name="Picture 4" descr="798,700+ Dark Technology Stock Photos, Pictures &amp; Royalty-Free Images -  iStock | Dark technology background, Dark technology background abstract,  Abstract dark technology">
            <a:extLst>
              <a:ext uri="{FF2B5EF4-FFF2-40B4-BE49-F238E27FC236}">
                <a16:creationId xmlns:a16="http://schemas.microsoft.com/office/drawing/2014/main" id="{A5A773BB-BB9C-D75D-E527-6282FA36CB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869" r="24898"/>
          <a:stretch>
            <a:fillRect/>
          </a:stretch>
        </p:blipFill>
        <p:spPr bwMode="auto">
          <a:xfrm>
            <a:off x="-5082100" y="0"/>
            <a:ext cx="466471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7AC633-CCBB-9874-0201-D5BBFD2268B0}"/>
              </a:ext>
            </a:extLst>
          </p:cNvPr>
          <p:cNvSpPr txBox="1"/>
          <p:nvPr/>
        </p:nvSpPr>
        <p:spPr>
          <a:xfrm>
            <a:off x="10789255" y="6098179"/>
            <a:ext cx="9547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151515"/>
                </a:solidFill>
                <a:latin typeface="Eras Bold ITC" panose="020B0907030504020204" pitchFamily="34" charset="0"/>
              </a:rPr>
              <a:t>0707</a:t>
            </a:r>
          </a:p>
        </p:txBody>
      </p:sp>
    </p:spTree>
    <p:extLst>
      <p:ext uri="{BB962C8B-B14F-4D97-AF65-F5344CB8AC3E}">
        <p14:creationId xmlns:p14="http://schemas.microsoft.com/office/powerpoint/2010/main" val="335960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</TotalTime>
  <Words>1280</Words>
  <Application>Microsoft Office PowerPoint</Application>
  <PresentationFormat>Widescreen</PresentationFormat>
  <Paragraphs>200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Bahnschrift</vt:lpstr>
      <vt:lpstr>Calibri</vt:lpstr>
      <vt:lpstr>Calibri Light</vt:lpstr>
      <vt:lpstr>Eras Bold ITC</vt:lpstr>
      <vt:lpstr>Office Theme</vt:lpstr>
      <vt:lpstr>THE MAIN GOAL</vt:lpstr>
      <vt:lpstr>THE MAIN GOAL</vt:lpstr>
      <vt:lpstr>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 Rajeev</dc:creator>
  <cp:lastModifiedBy>Krishna Rajeev</cp:lastModifiedBy>
  <cp:revision>10</cp:revision>
  <dcterms:created xsi:type="dcterms:W3CDTF">2025-11-23T10:57:51Z</dcterms:created>
  <dcterms:modified xsi:type="dcterms:W3CDTF">2025-11-26T06:17:20Z</dcterms:modified>
</cp:coreProperties>
</file>